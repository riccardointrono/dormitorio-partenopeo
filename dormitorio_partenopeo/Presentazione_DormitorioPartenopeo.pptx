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59" r:id="rId4"/>
    <p:sldId id="271" r:id="rId5"/>
    <p:sldId id="272" r:id="rId6"/>
    <p:sldId id="273" r:id="rId7"/>
    <p:sldId id="274" r:id="rId8"/>
    <p:sldId id="260" r:id="rId9"/>
    <p:sldId id="263" r:id="rId10"/>
    <p:sldId id="265" r:id="rId11"/>
    <p:sldId id="269" r:id="rId12"/>
    <p:sldId id="261" r:id="rId13"/>
    <p:sldId id="270" r:id="rId14"/>
    <p:sldId id="264" r:id="rId15"/>
    <p:sldId id="262" r:id="rId16"/>
    <p:sldId id="266" r:id="rId17"/>
    <p:sldId id="267" r:id="rId18"/>
    <p:sldId id="268" r:id="rId19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7A5CA"/>
    <a:srgbClr val="45F38B"/>
    <a:srgbClr val="6BCD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19" autoAdjust="0"/>
    <p:restoredTop sz="94694"/>
  </p:normalViewPr>
  <p:slideViewPr>
    <p:cSldViewPr snapToGrid="0">
      <p:cViewPr varScale="1">
        <p:scale>
          <a:sx n="109" d="100"/>
          <a:sy n="109" d="100"/>
        </p:scale>
        <p:origin x="5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F5F3DE-D725-4F56-A2A7-0954AF2E18E4}" type="datetimeFigureOut">
              <a:rPr lang="it-IT" smtClean="0"/>
              <a:t>30/12/25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781F3C-D2E8-40C6-B274-2017F86963C0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25628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81F3C-D2E8-40C6-B274-2017F86963C0}" type="slidenum">
              <a:rPr lang="it-IT" smtClean="0"/>
              <a:t>12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48814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781F3C-D2E8-40C6-B274-2017F86963C0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it-IT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8692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1BD42A7-8926-4C39-AB0C-D4931CCCC7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022F01E-9A46-4242-8BCC-C39DCF85DB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3F04E5D-F681-46E6-9B16-8A98D5F81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92F9C-D4AC-4487-9567-8ECEA96BB05D}" type="datetimeFigureOut">
              <a:rPr lang="it-IT" smtClean="0"/>
              <a:t>30/12/25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D1922D6-DDF2-47A6-A525-38E28E387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0972886-A5FD-4D1A-BC08-105A822CF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ADEC3-8431-43E8-B13D-10DC9DAAA7C5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14728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E2327C-1506-4D5D-AB7F-CEDEBEBD3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1C994CC-5789-4DB9-AA16-8E8960F95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493D9D9-3B61-4526-B007-07840723B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92F9C-D4AC-4487-9567-8ECEA96BB05D}" type="datetimeFigureOut">
              <a:rPr lang="it-IT" smtClean="0"/>
              <a:t>30/12/25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F9AB75D-525D-45B1-B180-1FDA73CB3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EF86995-70C9-4DAE-9C30-2D621879A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ADEC3-8431-43E8-B13D-10DC9DAAA7C5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99867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7F4299C-5CD7-4C6B-A492-42DD4C861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43F157B-13AE-4817-87C5-021496E7E4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87864FC-656D-4079-86BB-9CD5757D1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92F9C-D4AC-4487-9567-8ECEA96BB05D}" type="datetimeFigureOut">
              <a:rPr lang="it-IT" smtClean="0"/>
              <a:t>30/12/25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674D677-1EA2-448D-BFE6-90352B2E7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0693A9E-1FAC-49C3-9A14-0E3798FF2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ADEC3-8431-43E8-B13D-10DC9DAAA7C5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50409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9163CD9-F05C-42A6-8660-8B4332815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506E1B9-338D-45EC-B49D-531542EF43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215B9CF-0D9D-41D9-9D08-C5E4712785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D1B7F13-E45D-4171-840A-345718B54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92F9C-D4AC-4487-9567-8ECEA96BB05D}" type="datetimeFigureOut">
              <a:rPr lang="it-IT" smtClean="0"/>
              <a:t>30/12/25</a:t>
            </a:fld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BF1441F-251C-491E-8271-E84FAB517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9546417-E979-4023-89D6-00CFA3904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ADEC3-8431-43E8-B13D-10DC9DAAA7C5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96836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F3878F-7A08-4223-B0FF-54A41E7E5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05954F3-4D9E-4184-8213-A711FAAAF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71C4FE2-8D49-40F6-A99F-14E9D2E34E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C5E25783-B690-47FA-90AD-75B8FF4624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D58F72F-A2F1-4D74-975D-318A41B7EC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53F0827-E5FE-4891-86A0-B3CEB87E1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92F9C-D4AC-4487-9567-8ECEA96BB05D}" type="datetimeFigureOut">
              <a:rPr lang="it-IT" smtClean="0"/>
              <a:t>30/12/25</a:t>
            </a:fld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D1FEB4B6-4474-4235-BE45-B6AA1D18F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6B80CF34-7515-4A9E-8499-8382200AE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ADEC3-8431-43E8-B13D-10DC9DAAA7C5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59152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A9CAB7-8D32-4AF6-B0B1-A7D8A5B78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2FBEF77-AAC8-4D8D-9B23-B6D2AAF3B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92F9C-D4AC-4487-9567-8ECEA96BB05D}" type="datetimeFigureOut">
              <a:rPr lang="it-IT" smtClean="0"/>
              <a:t>30/12/25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E268681-0497-46DD-9DA7-87BB79B45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1825C2F-C702-4D84-A663-90F753196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ADEC3-8431-43E8-B13D-10DC9DAAA7C5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87563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0CC566DF-0AD1-47A4-A966-332E3B4C4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92F9C-D4AC-4487-9567-8ECEA96BB05D}" type="datetimeFigureOut">
              <a:rPr lang="it-IT" smtClean="0"/>
              <a:t>30/12/25</a:t>
            </a:fld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74F99A4B-DCB4-4A2E-9256-DB5E03BC2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B7F496A-1605-4104-B93A-CD970887D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ADEC3-8431-43E8-B13D-10DC9DAAA7C5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24802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11A8A5D-D417-4640-B2E5-80B604DD1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143D834-3CFC-4857-AAF0-AFDF66DEF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8F21326-0D28-44E4-8327-DDFFED302F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38AF3BE-299D-45DF-AD2D-CEC8F5C0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92F9C-D4AC-4487-9567-8ECEA96BB05D}" type="datetimeFigureOut">
              <a:rPr lang="it-IT" smtClean="0"/>
              <a:t>30/12/25</a:t>
            </a:fld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6757235-C9ED-4B3B-9D91-896D38FA4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3D3D03F-EED9-4830-B43A-B21073933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ADEC3-8431-43E8-B13D-10DC9DAAA7C5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04862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42C4BE9-436C-4A02-8005-88DE0C36C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275F826-63D2-4E6A-8A6D-78B56D4D05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2704F09-F2EE-40A7-B4CC-099B7D87CD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5B08F9B-E37F-4C93-B051-A9E67BC6D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92F9C-D4AC-4487-9567-8ECEA96BB05D}" type="datetimeFigureOut">
              <a:rPr lang="it-IT" smtClean="0"/>
              <a:t>30/12/25</a:t>
            </a:fld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8E2EA45-17FD-4D8F-A801-9AA2ED37A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5816BF1-C9D9-461A-8FB9-06D969366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ADEC3-8431-43E8-B13D-10DC9DAAA7C5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19238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DA17980-7DCB-4972-9ECD-B743A26CB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7F811B5-8F54-4DDF-8B0D-5F126FB9F6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0D13486-A538-495C-AEF2-8363A5DE3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92F9C-D4AC-4487-9567-8ECEA96BB05D}" type="datetimeFigureOut">
              <a:rPr lang="it-IT" smtClean="0"/>
              <a:t>30/12/25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E551E9E-8E9A-4F50-85BA-53DD14222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E5AE82B-B2C0-4C56-A0B3-D78ED2EF1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ADEC3-8431-43E8-B13D-10DC9DAAA7C5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61769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A108044-1931-4B71-BAA1-4A63E0BD89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1DD03D2-1AFA-4054-8D26-5CAE750D15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253A106-BDDE-458D-908D-560B7EE4D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92F9C-D4AC-4487-9567-8ECEA96BB05D}" type="datetimeFigureOut">
              <a:rPr lang="it-IT" smtClean="0"/>
              <a:t>30/12/25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BDDA720-48B6-4541-B9A1-CF28B41AB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C6E842-DF6D-4BF5-A450-808AA115E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ADEC3-8431-43E8-B13D-10DC9DAAA7C5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80992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A66D5467-0D6F-4F44-9AD0-392228AFE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A56A366-6D0F-4ED2-B060-5EF38A909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23709D1-13F6-4D44-9184-1ACC008F62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A92F9C-D4AC-4487-9567-8ECEA96BB05D}" type="datetimeFigureOut">
              <a:rPr lang="it-IT" smtClean="0"/>
              <a:t>30/12/25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586AAE3-37B7-433D-BCB8-BCD3D1D641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2243E2A-616E-407F-94F8-35ABE9DAAE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0ADEC3-8431-43E8-B13D-10DC9DAAA7C5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70622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37000">
              <a:schemeClr val="accent1">
                <a:lumMod val="69000"/>
                <a:lumOff val="31000"/>
              </a:schemeClr>
            </a:gs>
            <a:gs pos="83000">
              <a:srgbClr val="00B050">
                <a:alpha val="56000"/>
              </a:srgbClr>
            </a:gs>
            <a:gs pos="100000">
              <a:srgbClr val="00B050">
                <a:alpha val="59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6E61C50D-7682-437A-A24E-2E0EC1FB826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19" b="10161"/>
          <a:stretch/>
        </p:blipFill>
        <p:spPr>
          <a:xfrm>
            <a:off x="2543372" y="2079383"/>
            <a:ext cx="7105256" cy="3672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DBD19A43-2375-42CA-8CF3-0B51F48EBD55}"/>
              </a:ext>
            </a:extLst>
          </p:cNvPr>
          <p:cNvSpPr txBox="1"/>
          <p:nvPr/>
        </p:nvSpPr>
        <p:spPr>
          <a:xfrm>
            <a:off x="971955" y="598785"/>
            <a:ext cx="102480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6000" b="1" i="1" dirty="0">
                <a:ln>
                  <a:solidFill>
                    <a:srgbClr val="77A5CA"/>
                  </a:solidFill>
                </a:ln>
                <a:solidFill>
                  <a:srgbClr val="45F3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DORMITORIO PARTENOPEO</a:t>
            </a:r>
          </a:p>
        </p:txBody>
      </p:sp>
      <p:pic>
        <p:nvPicPr>
          <p:cNvPr id="1026" name="Picture 2" descr="UniParthenope Università degli studi di Napoli Parthenope - UnidTest">
            <a:extLst>
              <a:ext uri="{FF2B5EF4-FFF2-40B4-BE49-F238E27FC236}">
                <a16:creationId xmlns:a16="http://schemas.microsoft.com/office/drawing/2014/main" id="{4B4FFEE9-19AF-45E3-AA45-F89159076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0044" y="84935"/>
            <a:ext cx="828675" cy="82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3873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37000">
              <a:schemeClr val="accent1">
                <a:lumMod val="69000"/>
                <a:lumOff val="31000"/>
              </a:schemeClr>
            </a:gs>
            <a:gs pos="83000">
              <a:srgbClr val="00B050">
                <a:alpha val="56000"/>
              </a:srgbClr>
            </a:gs>
            <a:gs pos="100000">
              <a:srgbClr val="00B050">
                <a:alpha val="59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niParthenope Università degli studi di Napoli Parthenope - UnidTest">
            <a:extLst>
              <a:ext uri="{FF2B5EF4-FFF2-40B4-BE49-F238E27FC236}">
                <a16:creationId xmlns:a16="http://schemas.microsoft.com/office/drawing/2014/main" id="{4B4FFEE9-19AF-45E3-AA45-F89159076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0044" y="84935"/>
            <a:ext cx="828675" cy="82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D5A45DC5-36E3-482C-BEA1-C9D3F06CCE34}"/>
              </a:ext>
            </a:extLst>
          </p:cNvPr>
          <p:cNvSpPr/>
          <p:nvPr/>
        </p:nvSpPr>
        <p:spPr>
          <a:xfrm>
            <a:off x="87017" y="1463619"/>
            <a:ext cx="6008983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This presentation introduces the "</a:t>
            </a:r>
            <a:r>
              <a:rPr lang="it-IT" sz="2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Dormitorio Partenopeo</a:t>
            </a:r>
            <a:r>
              <a:rPr lang="it-IT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" project, an online software system designed to simplify and improve the management of </a:t>
            </a:r>
            <a:r>
              <a:rPr lang="it-IT" sz="2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 university dormitory</a:t>
            </a:r>
            <a:r>
              <a:rPr lang="it-IT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. The project focuses on providing an efficient, secure, and user-friendly platform for students, guests, and staff, allowing easy room booking, reservation management, and an overall improved user experience.</a:t>
            </a:r>
            <a:r>
              <a:rPr lang="en-US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  <a:p>
            <a:r>
              <a:rPr lang="en-US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software will allow users (students or guests) to: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View room rates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Check the types of rooms available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Make an online reservation.</a:t>
            </a:r>
            <a:endParaRPr lang="en-US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E40E9C08-9DCA-4CEE-A8E4-EE27F7C9D189}"/>
              </a:ext>
            </a:extLst>
          </p:cNvPr>
          <p:cNvSpPr/>
          <p:nvPr/>
        </p:nvSpPr>
        <p:spPr>
          <a:xfrm>
            <a:off x="2394627" y="84935"/>
            <a:ext cx="707815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5400" b="1" i="1" dirty="0">
                <a:ln w="3175">
                  <a:solidFill>
                    <a:srgbClr val="77A5CA"/>
                  </a:solidFill>
                </a:ln>
                <a:solidFill>
                  <a:srgbClr val="45F3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PROJECT DESCRIPTION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DE831255-DB06-4777-8A50-A134851A6158}"/>
              </a:ext>
            </a:extLst>
          </p:cNvPr>
          <p:cNvSpPr/>
          <p:nvPr/>
        </p:nvSpPr>
        <p:spPr>
          <a:xfrm>
            <a:off x="6924675" y="1463619"/>
            <a:ext cx="5267325" cy="4419600"/>
          </a:xfrm>
          <a:prstGeom prst="rect">
            <a:avLst/>
          </a:prstGeom>
          <a:solidFill>
            <a:srgbClr val="45F38B"/>
          </a:solidFill>
          <a:ln w="19050">
            <a:solidFill>
              <a:srgbClr val="45F3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6BCD9D"/>
              </a:solidFill>
            </a:endParaRPr>
          </a:p>
        </p:txBody>
      </p:sp>
      <p:pic>
        <p:nvPicPr>
          <p:cNvPr id="5" name="Immagine 4" descr="Immagine che contiene veicolo, clipart, design&#10;&#10;Descrizione generata automaticamente">
            <a:extLst>
              <a:ext uri="{FF2B5EF4-FFF2-40B4-BE49-F238E27FC236}">
                <a16:creationId xmlns:a16="http://schemas.microsoft.com/office/drawing/2014/main" id="{4BF71769-16F1-4847-9D81-F5420C743F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2414" y="1946247"/>
            <a:ext cx="4531846" cy="345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241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37000">
              <a:schemeClr val="accent1">
                <a:lumMod val="69000"/>
                <a:lumOff val="31000"/>
              </a:schemeClr>
            </a:gs>
            <a:gs pos="83000">
              <a:srgbClr val="00B050">
                <a:alpha val="56000"/>
              </a:srgbClr>
            </a:gs>
            <a:gs pos="100000">
              <a:srgbClr val="00B050">
                <a:alpha val="59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niParthenope Università degli studi di Napoli Parthenope - UnidTest">
            <a:extLst>
              <a:ext uri="{FF2B5EF4-FFF2-40B4-BE49-F238E27FC236}">
                <a16:creationId xmlns:a16="http://schemas.microsoft.com/office/drawing/2014/main" id="{4B4FFEE9-19AF-45E3-AA45-F89159076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0044" y="84935"/>
            <a:ext cx="828675" cy="82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89B7BD7B-1B53-4729-B5A6-0C352CD162B3}"/>
              </a:ext>
            </a:extLst>
          </p:cNvPr>
          <p:cNvSpPr/>
          <p:nvPr/>
        </p:nvSpPr>
        <p:spPr>
          <a:xfrm>
            <a:off x="4036832" y="223047"/>
            <a:ext cx="378821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5400" b="1" i="1" dirty="0">
                <a:ln>
                  <a:solidFill>
                    <a:srgbClr val="77A5CA"/>
                  </a:solidFill>
                </a:ln>
                <a:solidFill>
                  <a:srgbClr val="45F3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OBJECTIVES</a:t>
            </a:r>
            <a:endParaRPr lang="it-IT" b="1" i="1" dirty="0">
              <a:ln>
                <a:solidFill>
                  <a:srgbClr val="77A5CA"/>
                </a:solidFill>
              </a:ln>
              <a:solidFill>
                <a:srgbClr val="45F38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9BE44825-755C-4A8A-B4BE-10E4FBE5CF30}"/>
              </a:ext>
            </a:extLst>
          </p:cNvPr>
          <p:cNvSpPr/>
          <p:nvPr/>
        </p:nvSpPr>
        <p:spPr>
          <a:xfrm>
            <a:off x="200024" y="1503313"/>
            <a:ext cx="9382126" cy="2568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t-IT" sz="2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•Create a user-friendly interface that allows easy navigation	</a:t>
            </a:r>
          </a:p>
          <a:p>
            <a:pPr>
              <a:lnSpc>
                <a:spcPct val="150000"/>
              </a:lnSpc>
            </a:pPr>
            <a:r>
              <a:rPr lang="it-IT" sz="2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•Implement a booking system for the available room types	</a:t>
            </a:r>
          </a:p>
          <a:p>
            <a:pPr>
              <a:lnSpc>
                <a:spcPct val="150000"/>
              </a:lnSpc>
            </a:pPr>
            <a:r>
              <a:rPr lang="it-IT" sz="2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•Introduce a secure and flexible payment system</a:t>
            </a:r>
          </a:p>
          <a:p>
            <a:pPr>
              <a:lnSpc>
                <a:spcPct val="150000"/>
              </a:lnSpc>
            </a:pPr>
            <a:r>
              <a:rPr lang="it-IT" sz="2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•Use a secure authentication system</a:t>
            </a:r>
          </a:p>
          <a:p>
            <a:pPr>
              <a:lnSpc>
                <a:spcPct val="150000"/>
              </a:lnSpc>
            </a:pPr>
            <a:r>
              <a:rPr lang="it-IT" sz="22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•Implement a review system to improve the customer experience</a:t>
            </a:r>
          </a:p>
        </p:txBody>
      </p:sp>
      <p:pic>
        <p:nvPicPr>
          <p:cNvPr id="5" name="Immagine 4" descr="Immagine che contiene veicolo, clipart, design&#10;&#10;Descrizione generata automaticamente">
            <a:extLst>
              <a:ext uri="{FF2B5EF4-FFF2-40B4-BE49-F238E27FC236}">
                <a16:creationId xmlns:a16="http://schemas.microsoft.com/office/drawing/2014/main" id="{FF0A9734-6FC6-4B49-8292-46B6CF9A6A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4418" y="3542756"/>
            <a:ext cx="4144208" cy="3158872"/>
          </a:xfrm>
          <a:prstGeom prst="roundRect">
            <a:avLst>
              <a:gd name="adj" fmla="val 16667"/>
            </a:avLst>
          </a:prstGeom>
          <a:ln>
            <a:solidFill>
              <a:srgbClr val="45F38B"/>
            </a:solidFill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490679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37000">
              <a:schemeClr val="accent1">
                <a:lumMod val="69000"/>
                <a:lumOff val="31000"/>
              </a:schemeClr>
            </a:gs>
            <a:gs pos="83000">
              <a:srgbClr val="00B050">
                <a:alpha val="56000"/>
              </a:srgbClr>
            </a:gs>
            <a:gs pos="100000">
              <a:srgbClr val="00B050">
                <a:alpha val="59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niParthenope Università degli studi di Napoli Parthenope - UnidTest">
            <a:extLst>
              <a:ext uri="{FF2B5EF4-FFF2-40B4-BE49-F238E27FC236}">
                <a16:creationId xmlns:a16="http://schemas.microsoft.com/office/drawing/2014/main" id="{4B4FFEE9-19AF-45E3-AA45-F89159076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0044" y="83355"/>
            <a:ext cx="828675" cy="82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EE4FCC81-B282-480C-B5CA-814192B62803}"/>
              </a:ext>
            </a:extLst>
          </p:cNvPr>
          <p:cNvSpPr/>
          <p:nvPr/>
        </p:nvSpPr>
        <p:spPr>
          <a:xfrm>
            <a:off x="2808754" y="272534"/>
            <a:ext cx="657449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4400" b="1" i="1" dirty="0">
                <a:ln>
                  <a:solidFill>
                    <a:srgbClr val="77A5CA"/>
                  </a:solidFill>
                </a:ln>
                <a:solidFill>
                  <a:srgbClr val="45F3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APPLICATION STRUCTURE</a:t>
            </a:r>
            <a:endParaRPr lang="it-IT" sz="4400" i="1" dirty="0">
              <a:ln>
                <a:solidFill>
                  <a:srgbClr val="77A5CA"/>
                </a:solidFill>
              </a:ln>
              <a:solidFill>
                <a:srgbClr val="45F38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D2860F44-E13C-4804-9D60-FCC3E459A393}"/>
              </a:ext>
            </a:extLst>
          </p:cNvPr>
          <p:cNvSpPr/>
          <p:nvPr/>
        </p:nvSpPr>
        <p:spPr>
          <a:xfrm>
            <a:off x="123825" y="1150412"/>
            <a:ext cx="1109621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application is structured according to a three-tier architecture: </a:t>
            </a:r>
            <a:r>
              <a:rPr lang="en-US" sz="2000" i="1" u="sng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frontend</a:t>
            </a:r>
            <a:r>
              <a:rPr lang="en-US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sz="2000" i="1" u="sng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backend</a:t>
            </a:r>
            <a:r>
              <a:rPr lang="en-US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and </a:t>
            </a:r>
            <a:r>
              <a:rPr lang="en-US" sz="2000" i="1" u="sng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database</a:t>
            </a:r>
            <a:r>
              <a:rPr lang="en-US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endParaRPr lang="it-IT" sz="20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B7AEC00A-0F60-4F37-A8C1-ABB607CCAED4}"/>
              </a:ext>
            </a:extLst>
          </p:cNvPr>
          <p:cNvSpPr/>
          <p:nvPr/>
        </p:nvSpPr>
        <p:spPr>
          <a:xfrm>
            <a:off x="123825" y="1645803"/>
            <a:ext cx="6096000" cy="489364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Frontend (HTML, CSS, JavaScript)</a:t>
            </a:r>
            <a:br>
              <a:rPr lang="it-IT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it-IT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frontend is built with HTML, CSS, and JavaScript, without external frameworks.</a:t>
            </a:r>
            <a:br>
              <a:rPr lang="it-IT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it-IT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• </a:t>
            </a:r>
            <a:r>
              <a:rPr lang="it-IT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HTML:</a:t>
            </a:r>
            <a:br>
              <a:rPr lang="it-IT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it-IT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 page structure (index, login, registration, dashboard, booking, reviews, promotions)</a:t>
            </a:r>
            <a:br>
              <a:rPr lang="it-IT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it-IT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• </a:t>
            </a:r>
            <a:r>
              <a:rPr lang="it-IT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CSS:</a:t>
            </a:r>
            <a:br>
              <a:rPr lang="it-IT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it-IT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 website styling</a:t>
            </a:r>
            <a:br>
              <a:rPr lang="it-IT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it-IT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 page layouts</a:t>
            </a:r>
            <a:br>
              <a:rPr lang="it-IT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it-IT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 sidebar menu and graphic components</a:t>
            </a:r>
            <a:br>
              <a:rPr lang="it-IT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it-IT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• </a:t>
            </a:r>
            <a:r>
              <a:rPr lang="it-IT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JavaScript:</a:t>
            </a:r>
            <a:br>
              <a:rPr lang="it-IT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it-IT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 event handling (form submissions, clicks)</a:t>
            </a:r>
            <a:br>
              <a:rPr lang="it-IT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it-IT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 API calls using fetch</a:t>
            </a:r>
            <a:br>
              <a:rPr lang="it-IT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it-IT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 client-side data validation</a:t>
            </a:r>
            <a:br>
              <a:rPr lang="it-IT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it-IT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 user session management using localStorage</a:t>
            </a:r>
          </a:p>
          <a:p>
            <a:r>
              <a:rPr lang="it-IT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 dynamic population of pages with data received from the backend</a:t>
            </a:r>
          </a:p>
        </p:txBody>
      </p:sp>
      <p:pic>
        <p:nvPicPr>
          <p:cNvPr id="11" name="Immagine 10" descr="Immagine che contiene veicolo, clipart, design&#10;&#10;Descrizione generata automaticamente">
            <a:extLst>
              <a:ext uri="{FF2B5EF4-FFF2-40B4-BE49-F238E27FC236}">
                <a16:creationId xmlns:a16="http://schemas.microsoft.com/office/drawing/2014/main" id="{5B93C5F1-8A7C-45E5-8850-05F346EA9E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118" y="3542756"/>
            <a:ext cx="4144208" cy="3158872"/>
          </a:xfrm>
          <a:prstGeom prst="roundRect">
            <a:avLst>
              <a:gd name="adj" fmla="val 16667"/>
            </a:avLst>
          </a:prstGeom>
          <a:ln>
            <a:solidFill>
              <a:srgbClr val="45F38B"/>
            </a:solidFill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20273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37000">
              <a:schemeClr val="accent1">
                <a:lumMod val="69000"/>
                <a:lumOff val="31000"/>
              </a:schemeClr>
            </a:gs>
            <a:gs pos="83000">
              <a:srgbClr val="00B050">
                <a:alpha val="56000"/>
              </a:srgbClr>
            </a:gs>
            <a:gs pos="100000">
              <a:srgbClr val="00B050">
                <a:alpha val="59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niParthenope Università degli studi di Napoli Parthenope - UnidTest">
            <a:extLst>
              <a:ext uri="{FF2B5EF4-FFF2-40B4-BE49-F238E27FC236}">
                <a16:creationId xmlns:a16="http://schemas.microsoft.com/office/drawing/2014/main" id="{4B4FFEE9-19AF-45E3-AA45-F89159076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0044" y="83355"/>
            <a:ext cx="828675" cy="82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EE4FCC81-B282-480C-B5CA-814192B62803}"/>
              </a:ext>
            </a:extLst>
          </p:cNvPr>
          <p:cNvSpPr/>
          <p:nvPr/>
        </p:nvSpPr>
        <p:spPr>
          <a:xfrm>
            <a:off x="2808754" y="272534"/>
            <a:ext cx="657449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1" i="1" u="none" strike="noStrike" kern="1200" cap="none" spc="0" normalizeH="0" baseline="0" noProof="0" dirty="0">
                <a:ln>
                  <a:solidFill>
                    <a:srgbClr val="77A5CA"/>
                  </a:solidFill>
                </a:ln>
                <a:solidFill>
                  <a:srgbClr val="45F3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APPLICATION STRUCTURE</a:t>
            </a:r>
            <a:endParaRPr kumimoji="0" lang="it-IT" sz="4400" b="0" i="1" u="none" strike="noStrike" kern="1200" cap="none" spc="0" normalizeH="0" baseline="0" noProof="0" dirty="0">
              <a:ln>
                <a:solidFill>
                  <a:srgbClr val="77A5CA"/>
                </a:solidFill>
              </a:ln>
              <a:solidFill>
                <a:srgbClr val="45F38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+mn-cs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697AF156-41A5-410D-A535-AB686FC7695A}"/>
              </a:ext>
            </a:extLst>
          </p:cNvPr>
          <p:cNvSpPr/>
          <p:nvPr/>
        </p:nvSpPr>
        <p:spPr>
          <a:xfrm>
            <a:off x="247648" y="1041975"/>
            <a:ext cx="10287001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Backend (Python + Flask)</a:t>
            </a:r>
          </a:p>
          <a:p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backend is developed in </a:t>
            </a:r>
            <a:r>
              <a:rPr lang="en-US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Python</a:t>
            </a: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using </a:t>
            </a:r>
            <a:r>
              <a:rPr lang="en-US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Flask</a:t>
            </a: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a lightweight framework for building REST APIs.</a:t>
            </a:r>
          </a:p>
          <a:p>
            <a:b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• </a:t>
            </a:r>
            <a:r>
              <a:rPr lang="en-US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Flask </a:t>
            </a: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handles all the </a:t>
            </a:r>
            <a:r>
              <a:rPr lang="en-US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APIs </a:t>
            </a: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used by the frontend:</a:t>
            </a:r>
            <a:b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 student registration and login</a:t>
            </a:r>
            <a:b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 booking creation/cancellation</a:t>
            </a:r>
            <a:b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 review viewing/creation</a:t>
            </a:r>
            <a:b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 viewing and applying promotions</a:t>
            </a:r>
            <a:b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 viewing rates</a:t>
            </a:r>
          </a:p>
          <a:p>
            <a:b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• The </a:t>
            </a:r>
            <a:r>
              <a:rPr lang="en-US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API</a:t>
            </a: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 send and receive data in </a:t>
            </a:r>
            <a:r>
              <a:rPr lang="en-US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JSON</a:t>
            </a: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format.</a:t>
            </a:r>
          </a:p>
          <a:p>
            <a:b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• Authentication is managed via </a:t>
            </a:r>
            <a:r>
              <a:rPr lang="en-US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JWT </a:t>
            </a: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(JSON Web Token):</a:t>
            </a:r>
            <a:b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 a token is generated at login</a:t>
            </a:r>
            <a:b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 the token is then sent by the frontend in protected requests</a:t>
            </a:r>
          </a:p>
          <a:p>
            <a:b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• The </a:t>
            </a:r>
            <a:r>
              <a:rPr lang="en-US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backend</a:t>
            </a: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also handles:</a:t>
            </a:r>
            <a:b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 validating the received data</a:t>
            </a:r>
            <a:b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 calculating booking prices and applying any discounts</a:t>
            </a:r>
            <a:endParaRPr lang="it-IT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7" name="Immagine 6" descr="Immagine che contiene veicolo, clipart, design&#10;&#10;Descrizione generata automaticamente">
            <a:extLst>
              <a:ext uri="{FF2B5EF4-FFF2-40B4-BE49-F238E27FC236}">
                <a16:creationId xmlns:a16="http://schemas.microsoft.com/office/drawing/2014/main" id="{137CBC91-85D1-4193-B1FB-63E1D2D572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4418" y="3542756"/>
            <a:ext cx="4144208" cy="3158872"/>
          </a:xfrm>
          <a:prstGeom prst="roundRect">
            <a:avLst>
              <a:gd name="adj" fmla="val 16667"/>
            </a:avLst>
          </a:prstGeom>
          <a:ln>
            <a:solidFill>
              <a:srgbClr val="45F38B"/>
            </a:solidFill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502056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37000">
              <a:schemeClr val="accent1">
                <a:lumMod val="69000"/>
                <a:lumOff val="31000"/>
              </a:schemeClr>
            </a:gs>
            <a:gs pos="83000">
              <a:srgbClr val="00B050">
                <a:alpha val="56000"/>
              </a:srgbClr>
            </a:gs>
            <a:gs pos="100000">
              <a:srgbClr val="00B050">
                <a:alpha val="59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niParthenope Università degli studi di Napoli Parthenope - UnidTest">
            <a:extLst>
              <a:ext uri="{FF2B5EF4-FFF2-40B4-BE49-F238E27FC236}">
                <a16:creationId xmlns:a16="http://schemas.microsoft.com/office/drawing/2014/main" id="{4B4FFEE9-19AF-45E3-AA45-F89159076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0044" y="83355"/>
            <a:ext cx="828675" cy="82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EE4FCC81-B282-480C-B5CA-814192B62803}"/>
              </a:ext>
            </a:extLst>
          </p:cNvPr>
          <p:cNvSpPr/>
          <p:nvPr/>
        </p:nvSpPr>
        <p:spPr>
          <a:xfrm>
            <a:off x="2808754" y="0"/>
            <a:ext cx="657449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1" i="1" u="none" strike="noStrike" kern="1200" cap="none" spc="0" normalizeH="0" baseline="0" noProof="0" dirty="0">
                <a:ln>
                  <a:solidFill>
                    <a:srgbClr val="77A5CA"/>
                  </a:solidFill>
                </a:ln>
                <a:solidFill>
                  <a:srgbClr val="45F3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APPLICATION STRUCTURE</a:t>
            </a:r>
            <a:endParaRPr kumimoji="0" lang="it-IT" sz="4400" b="0" i="1" u="none" strike="noStrike" kern="1200" cap="none" spc="0" normalizeH="0" baseline="0" noProof="0" dirty="0">
              <a:ln>
                <a:solidFill>
                  <a:srgbClr val="77A5CA"/>
                </a:solidFill>
              </a:ln>
              <a:solidFill>
                <a:srgbClr val="45F38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+mn-cs"/>
            </a:endParaRP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D5BDA23F-7387-4DA4-B226-A13A47238FE6}"/>
              </a:ext>
            </a:extLst>
          </p:cNvPr>
          <p:cNvSpPr/>
          <p:nvPr/>
        </p:nvSpPr>
        <p:spPr>
          <a:xfrm>
            <a:off x="143281" y="579358"/>
            <a:ext cx="5952719" cy="6278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Database (MongoDB)</a:t>
            </a:r>
            <a:br>
              <a:rPr lang="en-US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database used is </a:t>
            </a:r>
            <a:r>
              <a:rPr lang="en-US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MongoDB,</a:t>
            </a: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a document-based NoSQL database.</a:t>
            </a:r>
            <a:b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• The </a:t>
            </a:r>
            <a:r>
              <a:rPr lang="en-US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data</a:t>
            </a: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is organized into collections, for example:</a:t>
            </a:r>
            <a:b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 students</a:t>
            </a:r>
            <a:b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 bookings</a:t>
            </a:r>
            <a:b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 reviews</a:t>
            </a:r>
            <a:b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 rooms</a:t>
            </a:r>
            <a:b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 promotions</a:t>
            </a:r>
          </a:p>
          <a:p>
            <a:b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• Each document is represented in JSON format, </a:t>
            </a:r>
            <a:r>
              <a:rPr lang="it-IT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which</a:t>
            </a:r>
            <a:r>
              <a:rPr lang="it-IT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makes </a:t>
            </a:r>
            <a:r>
              <a:rPr lang="it-IT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it</a:t>
            </a:r>
            <a:r>
              <a:rPr lang="it-IT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easy to integrate with </a:t>
            </a:r>
            <a:r>
              <a:rPr lang="it-IT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Flask</a:t>
            </a:r>
            <a:r>
              <a:rPr lang="it-IT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endParaRPr lang="en-US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b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• MongoDB is used to:</a:t>
            </a:r>
            <a:b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 save registered users</a:t>
            </a:r>
            <a:b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 store bookings</a:t>
            </a:r>
            <a:b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 save student reviews</a:t>
            </a:r>
            <a:b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 manage active promotions</a:t>
            </a:r>
          </a:p>
          <a:p>
            <a:b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• For the project submission, a </a:t>
            </a:r>
            <a:r>
              <a:rPr lang="en-US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database dump </a:t>
            </a: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is provided, so the project can be immediately tested even on another computer.</a:t>
            </a:r>
            <a:endParaRPr lang="it-IT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7" name="Immagine 6" descr="Immagine che contiene veicolo, clipart, design&#10;&#10;Descrizione generata automaticamente">
            <a:extLst>
              <a:ext uri="{FF2B5EF4-FFF2-40B4-BE49-F238E27FC236}">
                <a16:creationId xmlns:a16="http://schemas.microsoft.com/office/drawing/2014/main" id="{06F54927-6D1A-4A55-BF92-C8837E873F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4418" y="3542756"/>
            <a:ext cx="4144208" cy="3158872"/>
          </a:xfrm>
          <a:prstGeom prst="roundRect">
            <a:avLst>
              <a:gd name="adj" fmla="val 16667"/>
            </a:avLst>
          </a:prstGeom>
          <a:ln>
            <a:solidFill>
              <a:srgbClr val="45F38B"/>
            </a:solidFill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237584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37000">
              <a:schemeClr val="accent1">
                <a:lumMod val="69000"/>
                <a:lumOff val="31000"/>
              </a:schemeClr>
            </a:gs>
            <a:gs pos="83000">
              <a:srgbClr val="00B050">
                <a:alpha val="56000"/>
              </a:srgbClr>
            </a:gs>
            <a:gs pos="100000">
              <a:srgbClr val="00B050">
                <a:alpha val="59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niParthenope Università degli studi di Napoli Parthenope - UnidTest">
            <a:extLst>
              <a:ext uri="{FF2B5EF4-FFF2-40B4-BE49-F238E27FC236}">
                <a16:creationId xmlns:a16="http://schemas.microsoft.com/office/drawing/2014/main" id="{4B4FFEE9-19AF-45E3-AA45-F89159076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0044" y="83355"/>
            <a:ext cx="828675" cy="82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EE4FCC81-B282-480C-B5CA-814192B62803}"/>
              </a:ext>
            </a:extLst>
          </p:cNvPr>
          <p:cNvSpPr/>
          <p:nvPr/>
        </p:nvSpPr>
        <p:spPr>
          <a:xfrm>
            <a:off x="2808754" y="0"/>
            <a:ext cx="657449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1" i="1" u="none" strike="noStrike" kern="1200" cap="none" spc="0" normalizeH="0" baseline="0" noProof="0" dirty="0">
                <a:ln>
                  <a:solidFill>
                    <a:srgbClr val="77A5CA"/>
                  </a:solidFill>
                </a:ln>
                <a:solidFill>
                  <a:srgbClr val="45F3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APPLICATION STRUCTURE</a:t>
            </a:r>
            <a:endParaRPr kumimoji="0" lang="it-IT" sz="4400" b="0" i="1" u="none" strike="noStrike" kern="1200" cap="none" spc="0" normalizeH="0" baseline="0" noProof="0" dirty="0">
              <a:ln>
                <a:solidFill>
                  <a:srgbClr val="77A5CA"/>
                </a:solidFill>
              </a:ln>
              <a:solidFill>
                <a:srgbClr val="45F38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+mn-cs"/>
            </a:endParaRP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989AAD61-B6CE-4A0E-AA7E-26ACB248904F}"/>
              </a:ext>
            </a:extLst>
          </p:cNvPr>
          <p:cNvSpPr/>
          <p:nvPr/>
        </p:nvSpPr>
        <p:spPr>
          <a:xfrm>
            <a:off x="0" y="1305341"/>
            <a:ext cx="6096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>
              <a:solidFill>
                <a:schemeClr val="bg1"/>
              </a:solidFill>
              <a:latin typeface="Robot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user opens the website in a browser.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frontend sends HTTP requests to the Flask APIs.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backend:</a:t>
            </a:r>
          </a:p>
          <a:p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 validates the request</a:t>
            </a:r>
            <a:b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 interacts with MongoDB</a:t>
            </a:r>
            <a:b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 returns a JSON response.</a:t>
            </a:r>
            <a:b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endParaRPr lang="en-US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frontend dynamically updates the page based on the response.</a:t>
            </a:r>
            <a:b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endParaRPr lang="en-US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This approach clearly separates:</a:t>
            </a:r>
            <a:b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 presentation logic (frontend)</a:t>
            </a:r>
            <a:b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 application logic (backend)</a:t>
            </a:r>
            <a:b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 data persistence (database)</a:t>
            </a:r>
            <a:endParaRPr lang="it-IT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BADA6139-3C4F-4B5E-99F2-485215CD4D41}"/>
              </a:ext>
            </a:extLst>
          </p:cNvPr>
          <p:cNvSpPr/>
          <p:nvPr/>
        </p:nvSpPr>
        <p:spPr>
          <a:xfrm>
            <a:off x="97722" y="936009"/>
            <a:ext cx="24255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2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WORKING FLOW</a:t>
            </a:r>
          </a:p>
        </p:txBody>
      </p:sp>
      <p:pic>
        <p:nvPicPr>
          <p:cNvPr id="7" name="Immagine 6" descr="Immagine che contiene veicolo, clipart, design&#10;&#10;Descrizione generata automaticamente">
            <a:extLst>
              <a:ext uri="{FF2B5EF4-FFF2-40B4-BE49-F238E27FC236}">
                <a16:creationId xmlns:a16="http://schemas.microsoft.com/office/drawing/2014/main" id="{E82004B9-34C6-4C15-8BA4-0C4FBCE51D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4418" y="3542756"/>
            <a:ext cx="4144208" cy="3158872"/>
          </a:xfrm>
          <a:prstGeom prst="roundRect">
            <a:avLst>
              <a:gd name="adj" fmla="val 16667"/>
            </a:avLst>
          </a:prstGeom>
          <a:ln>
            <a:solidFill>
              <a:srgbClr val="45F38B"/>
            </a:solidFill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652962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37000">
              <a:schemeClr val="accent1">
                <a:lumMod val="69000"/>
                <a:lumOff val="31000"/>
              </a:schemeClr>
            </a:gs>
            <a:gs pos="83000">
              <a:srgbClr val="00B050">
                <a:alpha val="56000"/>
              </a:srgbClr>
            </a:gs>
            <a:gs pos="100000">
              <a:srgbClr val="00B050">
                <a:alpha val="59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niParthenope Università degli studi di Napoli Parthenope - UnidTest">
            <a:extLst>
              <a:ext uri="{FF2B5EF4-FFF2-40B4-BE49-F238E27FC236}">
                <a16:creationId xmlns:a16="http://schemas.microsoft.com/office/drawing/2014/main" id="{4B4FFEE9-19AF-45E3-AA45-F89159076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0044" y="83355"/>
            <a:ext cx="828675" cy="82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6B431020-22E6-483F-BB5B-C60AF6E4C702}"/>
              </a:ext>
            </a:extLst>
          </p:cNvPr>
          <p:cNvSpPr txBox="1"/>
          <p:nvPr/>
        </p:nvSpPr>
        <p:spPr>
          <a:xfrm flipH="1">
            <a:off x="4608193" y="141295"/>
            <a:ext cx="23355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5400" b="1" i="1" dirty="0">
                <a:ln>
                  <a:solidFill>
                    <a:srgbClr val="77A5CA"/>
                  </a:solidFill>
                </a:ln>
                <a:solidFill>
                  <a:srgbClr val="45F3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HOME</a:t>
            </a:r>
            <a:endParaRPr lang="it-IT" sz="6000" b="1" i="1" dirty="0">
              <a:ln>
                <a:solidFill>
                  <a:srgbClr val="77A5CA"/>
                </a:solidFill>
              </a:ln>
              <a:solidFill>
                <a:srgbClr val="45F38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7" name="Immagine 6" descr="Immagine che contiene testo, schermata, software, computer&#10;&#10;Descrizione generata automaticamente">
            <a:extLst>
              <a:ext uri="{FF2B5EF4-FFF2-40B4-BE49-F238E27FC236}">
                <a16:creationId xmlns:a16="http://schemas.microsoft.com/office/drawing/2014/main" id="{E46810B5-33A6-4E59-86A1-67F096F4759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6" t="16667" r="3946" b="8888"/>
          <a:stretch/>
        </p:blipFill>
        <p:spPr>
          <a:xfrm>
            <a:off x="4145825" y="1742175"/>
            <a:ext cx="7979094" cy="388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45F38B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C7C271F4-2DE9-4BAA-9986-D26A3189EB2F}"/>
              </a:ext>
            </a:extLst>
          </p:cNvPr>
          <p:cNvSpPr/>
          <p:nvPr/>
        </p:nvSpPr>
        <p:spPr>
          <a:xfrm>
            <a:off x="533400" y="2813447"/>
            <a:ext cx="3181350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</a:t>
            </a:r>
            <a:r>
              <a:rPr lang="it-IT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"</a:t>
            </a:r>
            <a:r>
              <a:rPr lang="it-IT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HOME</a:t>
            </a:r>
            <a:r>
              <a:rPr lang="it-IT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"</a:t>
            </a:r>
            <a:r>
              <a:rPr lang="it-IT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page allows users to enter dates and number of guests to quickly check room availability.</a:t>
            </a:r>
          </a:p>
        </p:txBody>
      </p:sp>
    </p:spTree>
    <p:extLst>
      <p:ext uri="{BB962C8B-B14F-4D97-AF65-F5344CB8AC3E}">
        <p14:creationId xmlns:p14="http://schemas.microsoft.com/office/powerpoint/2010/main" val="1666336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37000">
              <a:schemeClr val="accent1">
                <a:lumMod val="69000"/>
                <a:lumOff val="31000"/>
              </a:schemeClr>
            </a:gs>
            <a:gs pos="83000">
              <a:srgbClr val="00B050">
                <a:alpha val="56000"/>
              </a:srgbClr>
            </a:gs>
            <a:gs pos="100000">
              <a:srgbClr val="00B050">
                <a:alpha val="59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niParthenope Università degli studi di Napoli Parthenope - UnidTest">
            <a:extLst>
              <a:ext uri="{FF2B5EF4-FFF2-40B4-BE49-F238E27FC236}">
                <a16:creationId xmlns:a16="http://schemas.microsoft.com/office/drawing/2014/main" id="{4B4FFEE9-19AF-45E3-AA45-F89159076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0044" y="84935"/>
            <a:ext cx="828675" cy="82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DDA0F6F3-80CF-4987-A178-A4DA06694A97}"/>
              </a:ext>
            </a:extLst>
          </p:cNvPr>
          <p:cNvSpPr txBox="1"/>
          <p:nvPr/>
        </p:nvSpPr>
        <p:spPr>
          <a:xfrm>
            <a:off x="4433887" y="84935"/>
            <a:ext cx="33242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5400" b="1" i="1" dirty="0">
                <a:ln>
                  <a:solidFill>
                    <a:srgbClr val="77A5CA"/>
                  </a:solidFill>
                </a:ln>
                <a:solidFill>
                  <a:srgbClr val="45F3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ROOMS</a:t>
            </a:r>
          </a:p>
        </p:txBody>
      </p:sp>
      <p:pic>
        <p:nvPicPr>
          <p:cNvPr id="4" name="Immagine 3" descr="Immagine che contiene testo, schermata, software, Pagina Web&#10;&#10;Descrizione generata automaticamente">
            <a:extLst>
              <a:ext uri="{FF2B5EF4-FFF2-40B4-BE49-F238E27FC236}">
                <a16:creationId xmlns:a16="http://schemas.microsoft.com/office/drawing/2014/main" id="{70158A47-25BC-4B50-BB81-EEAE16A8E3C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2" t="16666" r="4030" b="7917"/>
          <a:stretch/>
        </p:blipFill>
        <p:spPr>
          <a:xfrm>
            <a:off x="4263004" y="1762125"/>
            <a:ext cx="7861914" cy="3888000"/>
          </a:xfrm>
          <a:prstGeom prst="rect">
            <a:avLst/>
          </a:prstGeom>
          <a:solidFill>
            <a:srgbClr val="FFFFFF">
              <a:shade val="85000"/>
            </a:srgbClr>
          </a:solidFill>
          <a:ln w="57150" cap="sq">
            <a:solidFill>
              <a:srgbClr val="45F38B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E3D75BB0-7FC4-4A16-BD4C-B47EC6E3F607}"/>
              </a:ext>
            </a:extLst>
          </p:cNvPr>
          <p:cNvSpPr txBox="1"/>
          <p:nvPr/>
        </p:nvSpPr>
        <p:spPr>
          <a:xfrm>
            <a:off x="67082" y="2398663"/>
            <a:ext cx="367624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This page displays the </a:t>
            </a:r>
            <a:r>
              <a:rPr lang="en-US" b="1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available room types</a:t>
            </a:r>
            <a:r>
              <a:rPr lang="en-US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in the dormitory.</a:t>
            </a:r>
            <a:br>
              <a:rPr lang="en-US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Each card includes a representative image, a short description of the room features, the </a:t>
            </a:r>
            <a:r>
              <a:rPr lang="en-US" b="1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price per night</a:t>
            </a:r>
            <a:r>
              <a:rPr lang="en-US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and a </a:t>
            </a:r>
            <a:r>
              <a:rPr lang="en-US" b="1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“</a:t>
            </a:r>
            <a:r>
              <a:rPr lang="en-US" b="1" i="1" u="sng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Prenota</a:t>
            </a:r>
            <a:r>
              <a:rPr lang="en-US" b="1" i="1" u="sng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ora (Book now)</a:t>
            </a:r>
            <a:r>
              <a:rPr lang="en-US" b="1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”</a:t>
            </a:r>
            <a:r>
              <a:rPr lang="en-US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button, allowing users to easily compare options and quickly start the booking process.</a:t>
            </a:r>
          </a:p>
        </p:txBody>
      </p:sp>
    </p:spTree>
    <p:extLst>
      <p:ext uri="{BB962C8B-B14F-4D97-AF65-F5344CB8AC3E}">
        <p14:creationId xmlns:p14="http://schemas.microsoft.com/office/powerpoint/2010/main" val="3066101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37000">
              <a:schemeClr val="accent1">
                <a:lumMod val="69000"/>
                <a:lumOff val="31000"/>
              </a:schemeClr>
            </a:gs>
            <a:gs pos="83000">
              <a:srgbClr val="00B050">
                <a:alpha val="56000"/>
              </a:srgbClr>
            </a:gs>
            <a:gs pos="100000">
              <a:srgbClr val="00B050">
                <a:alpha val="59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niParthenope Università degli studi di Napoli Parthenope - UnidTest">
            <a:extLst>
              <a:ext uri="{FF2B5EF4-FFF2-40B4-BE49-F238E27FC236}">
                <a16:creationId xmlns:a16="http://schemas.microsoft.com/office/drawing/2014/main" id="{4B4FFEE9-19AF-45E3-AA45-F89159076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0044" y="84935"/>
            <a:ext cx="828675" cy="82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magine 12" descr="Immagine che contiene interno, interior design, muro, pavimento&#10;&#10;Descrizione generata automaticamente">
            <a:extLst>
              <a:ext uri="{FF2B5EF4-FFF2-40B4-BE49-F238E27FC236}">
                <a16:creationId xmlns:a16="http://schemas.microsoft.com/office/drawing/2014/main" id="{77DA0434-A92B-4B3D-8CB9-1309E4820E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949" y="1781452"/>
            <a:ext cx="3860506" cy="4057096"/>
          </a:xfrm>
          <a:prstGeom prst="rect">
            <a:avLst/>
          </a:prstGeom>
          <a:solidFill>
            <a:srgbClr val="FFFFFF">
              <a:shade val="85000"/>
            </a:srgbClr>
          </a:solidFill>
          <a:ln w="38100" cap="sq">
            <a:solidFill>
              <a:srgbClr val="45F38B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4" name="Rettangolo 13">
            <a:extLst>
              <a:ext uri="{FF2B5EF4-FFF2-40B4-BE49-F238E27FC236}">
                <a16:creationId xmlns:a16="http://schemas.microsoft.com/office/drawing/2014/main" id="{48525028-8EAF-4C31-9327-05EB87E472FA}"/>
              </a:ext>
            </a:extLst>
          </p:cNvPr>
          <p:cNvSpPr/>
          <p:nvPr/>
        </p:nvSpPr>
        <p:spPr>
          <a:xfrm>
            <a:off x="1885836" y="990087"/>
            <a:ext cx="2670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3200" b="1" i="1" dirty="0">
                <a:ln>
                  <a:solidFill>
                    <a:srgbClr val="77A5CA"/>
                  </a:solidFill>
                </a:ln>
                <a:solidFill>
                  <a:srgbClr val="45F3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SINGLE ROOM</a:t>
            </a:r>
            <a:endParaRPr lang="it-IT" sz="3200" i="1" dirty="0">
              <a:ln>
                <a:solidFill>
                  <a:srgbClr val="77A5CA"/>
                </a:solidFill>
              </a:ln>
              <a:solidFill>
                <a:srgbClr val="45F38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18" name="Immagine 17" descr="Immagine che contiene interno, muro, interior design, letto&#10;&#10;Descrizione generata automaticamente">
            <a:extLst>
              <a:ext uri="{FF2B5EF4-FFF2-40B4-BE49-F238E27FC236}">
                <a16:creationId xmlns:a16="http://schemas.microsoft.com/office/drawing/2014/main" id="{FDF9B175-605A-4E0A-A43F-BB7B25ACCE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9538" y="1781452"/>
            <a:ext cx="3860506" cy="4057200"/>
          </a:xfrm>
          <a:prstGeom prst="rect">
            <a:avLst/>
          </a:prstGeom>
          <a:solidFill>
            <a:srgbClr val="FFFFFF">
              <a:shade val="85000"/>
            </a:srgbClr>
          </a:solidFill>
          <a:ln w="38100" cap="sq">
            <a:solidFill>
              <a:srgbClr val="45F38B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9" name="Rettangolo 18">
            <a:extLst>
              <a:ext uri="{FF2B5EF4-FFF2-40B4-BE49-F238E27FC236}">
                <a16:creationId xmlns:a16="http://schemas.microsoft.com/office/drawing/2014/main" id="{33C1FD4E-1608-4F4D-9554-1870D02B1C82}"/>
              </a:ext>
            </a:extLst>
          </p:cNvPr>
          <p:cNvSpPr/>
          <p:nvPr/>
        </p:nvSpPr>
        <p:spPr>
          <a:xfrm>
            <a:off x="7862252" y="990086"/>
            <a:ext cx="285507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3200" b="1" i="1" dirty="0">
                <a:ln>
                  <a:solidFill>
                    <a:srgbClr val="77A5CA"/>
                  </a:solidFill>
                </a:ln>
                <a:solidFill>
                  <a:srgbClr val="45F3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DOUBLE ROOM</a:t>
            </a:r>
            <a:endParaRPr lang="it-IT" sz="3200" i="1" dirty="0">
              <a:ln>
                <a:solidFill>
                  <a:srgbClr val="77A5CA"/>
                </a:solidFill>
              </a:ln>
              <a:solidFill>
                <a:srgbClr val="45F38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9981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37000">
              <a:schemeClr val="accent1">
                <a:lumMod val="69000"/>
                <a:lumOff val="31000"/>
              </a:schemeClr>
            </a:gs>
            <a:gs pos="83000">
              <a:srgbClr val="00B050">
                <a:alpha val="56000"/>
              </a:srgbClr>
            </a:gs>
            <a:gs pos="100000">
              <a:srgbClr val="00B050">
                <a:alpha val="59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niParthenope Università degli studi di Napoli Parthenope - UnidTest">
            <a:extLst>
              <a:ext uri="{FF2B5EF4-FFF2-40B4-BE49-F238E27FC236}">
                <a16:creationId xmlns:a16="http://schemas.microsoft.com/office/drawing/2014/main" id="{4B4FFEE9-19AF-45E3-AA45-F89159076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0044" y="84935"/>
            <a:ext cx="828675" cy="82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magine 2" descr="Immagine che contiene interno, muro, interior design, arredo&#10;&#10;Descrizione generata automaticamente">
            <a:extLst>
              <a:ext uri="{FF2B5EF4-FFF2-40B4-BE49-F238E27FC236}">
                <a16:creationId xmlns:a16="http://schemas.microsoft.com/office/drawing/2014/main" id="{FE259A3D-CC82-43C0-8400-7FEB30FFBA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956" y="1818972"/>
            <a:ext cx="3754355" cy="4059533"/>
          </a:xfrm>
          <a:prstGeom prst="rect">
            <a:avLst/>
          </a:prstGeom>
          <a:solidFill>
            <a:srgbClr val="FFFFFF">
              <a:shade val="85000"/>
            </a:srgbClr>
          </a:solidFill>
          <a:ln w="38100" cap="sq">
            <a:solidFill>
              <a:srgbClr val="45F38B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AD2D6C84-9902-404F-9C20-63DDA4189D55}"/>
              </a:ext>
            </a:extLst>
          </p:cNvPr>
          <p:cNvSpPr/>
          <p:nvPr/>
        </p:nvSpPr>
        <p:spPr>
          <a:xfrm>
            <a:off x="1863370" y="1131895"/>
            <a:ext cx="26675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3200" b="1" i="1" dirty="0">
                <a:ln>
                  <a:solidFill>
                    <a:srgbClr val="77A5CA"/>
                  </a:solidFill>
                </a:ln>
                <a:solidFill>
                  <a:srgbClr val="45F3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TRIPLE ROOM</a:t>
            </a:r>
            <a:endParaRPr lang="it-IT" sz="3200" i="1" dirty="0">
              <a:ln>
                <a:solidFill>
                  <a:srgbClr val="77A5CA"/>
                </a:solidFill>
              </a:ln>
              <a:solidFill>
                <a:srgbClr val="45F38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7" name="Immagine 6" descr="Immagine che contiene interno, arredo, letto, muro&#10;&#10;Descrizione generata automaticamente">
            <a:extLst>
              <a:ext uri="{FF2B5EF4-FFF2-40B4-BE49-F238E27FC236}">
                <a16:creationId xmlns:a16="http://schemas.microsoft.com/office/drawing/2014/main" id="{17709E1A-CB97-4111-A7B5-364A4F48EA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5688" y="1818972"/>
            <a:ext cx="3754356" cy="4059533"/>
          </a:xfrm>
          <a:prstGeom prst="rect">
            <a:avLst/>
          </a:prstGeom>
          <a:solidFill>
            <a:srgbClr val="FFFFFF">
              <a:shade val="85000"/>
            </a:srgbClr>
          </a:solidFill>
          <a:ln w="38100" cap="sq">
            <a:solidFill>
              <a:srgbClr val="45F38B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1FACAB6B-D4D1-439E-B2B3-ED0EF59F2DA6}"/>
              </a:ext>
            </a:extLst>
          </p:cNvPr>
          <p:cNvSpPr/>
          <p:nvPr/>
        </p:nvSpPr>
        <p:spPr>
          <a:xfrm>
            <a:off x="7555069" y="1131895"/>
            <a:ext cx="357559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3200" b="1" i="1" dirty="0">
                <a:ln>
                  <a:solidFill>
                    <a:srgbClr val="77A5CA"/>
                  </a:solidFill>
                </a:ln>
                <a:solidFill>
                  <a:srgbClr val="45F3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QUADRUPLE ROOM</a:t>
            </a:r>
            <a:endParaRPr lang="it-IT" sz="3200" i="1" dirty="0">
              <a:ln>
                <a:solidFill>
                  <a:srgbClr val="77A5CA"/>
                </a:solidFill>
              </a:ln>
              <a:solidFill>
                <a:srgbClr val="45F38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207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37000">
              <a:schemeClr val="accent1">
                <a:lumMod val="69000"/>
                <a:lumOff val="31000"/>
              </a:schemeClr>
            </a:gs>
            <a:gs pos="83000">
              <a:srgbClr val="00B050">
                <a:alpha val="56000"/>
              </a:srgbClr>
            </a:gs>
            <a:gs pos="100000">
              <a:srgbClr val="00B050">
                <a:alpha val="59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niParthenope Università degli studi di Napoli Parthenope - UnidTest">
            <a:extLst>
              <a:ext uri="{FF2B5EF4-FFF2-40B4-BE49-F238E27FC236}">
                <a16:creationId xmlns:a16="http://schemas.microsoft.com/office/drawing/2014/main" id="{4B4FFEE9-19AF-45E3-AA45-F89159076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0044" y="84935"/>
            <a:ext cx="828675" cy="82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13B79308-A563-4810-AADD-D80E426C9A88}"/>
              </a:ext>
            </a:extLst>
          </p:cNvPr>
          <p:cNvSpPr txBox="1"/>
          <p:nvPr/>
        </p:nvSpPr>
        <p:spPr>
          <a:xfrm>
            <a:off x="4257674" y="84935"/>
            <a:ext cx="26384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5400" b="1" i="1" dirty="0">
                <a:ln>
                  <a:solidFill>
                    <a:srgbClr val="77A5CA"/>
                  </a:solidFill>
                </a:ln>
                <a:solidFill>
                  <a:srgbClr val="45F3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LOGIN</a:t>
            </a:r>
            <a:endParaRPr lang="it-IT" b="1" i="1" dirty="0">
              <a:ln>
                <a:solidFill>
                  <a:srgbClr val="77A5CA"/>
                </a:solidFill>
              </a:ln>
              <a:solidFill>
                <a:srgbClr val="45F38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1282A9A-8583-42D6-85B5-3B1C39990F6F}"/>
              </a:ext>
            </a:extLst>
          </p:cNvPr>
          <p:cNvSpPr txBox="1"/>
          <p:nvPr/>
        </p:nvSpPr>
        <p:spPr>
          <a:xfrm flipH="1">
            <a:off x="304883" y="2551837"/>
            <a:ext cx="45243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This page allows users to </a:t>
            </a:r>
            <a:r>
              <a:rPr lang="en-US" b="1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log into their account</a:t>
            </a:r>
            <a:r>
              <a:rPr lang="en-US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using their student ID and password.</a:t>
            </a:r>
            <a:br>
              <a:rPr lang="en-US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It also provides links for new user registration.</a:t>
            </a:r>
            <a:endParaRPr lang="it-IT" i="1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7" name="Immagine 6" descr="Immagine che contiene testo, software, Rettangolo, Sistema operativo&#10;&#10;Il contenuto generato dall'IA potrebbe non essere corretto.">
            <a:extLst>
              <a:ext uri="{FF2B5EF4-FFF2-40B4-BE49-F238E27FC236}">
                <a16:creationId xmlns:a16="http://schemas.microsoft.com/office/drawing/2014/main" id="{14004043-1BCE-AF1F-CB34-A77355E91E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1365250"/>
            <a:ext cx="7467600" cy="412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202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37000">
              <a:schemeClr val="accent1">
                <a:lumMod val="69000"/>
                <a:lumOff val="31000"/>
              </a:schemeClr>
            </a:gs>
            <a:gs pos="83000">
              <a:srgbClr val="00B050">
                <a:alpha val="56000"/>
              </a:srgbClr>
            </a:gs>
            <a:gs pos="100000">
              <a:srgbClr val="00B050">
                <a:alpha val="59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niParthenope Università degli studi di Napoli Parthenope - UnidTest">
            <a:extLst>
              <a:ext uri="{FF2B5EF4-FFF2-40B4-BE49-F238E27FC236}">
                <a16:creationId xmlns:a16="http://schemas.microsoft.com/office/drawing/2014/main" id="{4B4FFEE9-19AF-45E3-AA45-F89159076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0044" y="84935"/>
            <a:ext cx="828675" cy="82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magine 6" descr="Immagine che contiene testo, schermata, schermo, software&#10;&#10;Descrizione generata automaticamente">
            <a:extLst>
              <a:ext uri="{FF2B5EF4-FFF2-40B4-BE49-F238E27FC236}">
                <a16:creationId xmlns:a16="http://schemas.microsoft.com/office/drawing/2014/main" id="{05551833-4230-4172-910D-7182B84C245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8" t="16127" r="3760" b="9304"/>
          <a:stretch/>
        </p:blipFill>
        <p:spPr>
          <a:xfrm>
            <a:off x="4205325" y="1771651"/>
            <a:ext cx="7920000" cy="38794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45F38B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96B7831D-080D-4D76-A36D-2EDEE6080D13}"/>
              </a:ext>
            </a:extLst>
          </p:cNvPr>
          <p:cNvSpPr/>
          <p:nvPr/>
        </p:nvSpPr>
        <p:spPr>
          <a:xfrm>
            <a:off x="2813201" y="186019"/>
            <a:ext cx="6158353" cy="892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5200" b="1" i="1" dirty="0">
                <a:ln>
                  <a:solidFill>
                    <a:srgbClr val="77A5CA"/>
                  </a:solidFill>
                </a:ln>
                <a:solidFill>
                  <a:srgbClr val="45F3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ROOM RESERVATION</a:t>
            </a:r>
            <a:endParaRPr lang="en-GB" sz="5200" i="1" dirty="0">
              <a:ln>
                <a:solidFill>
                  <a:srgbClr val="77A5CA"/>
                </a:solidFill>
              </a:ln>
              <a:solidFill>
                <a:srgbClr val="45F38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9123E31C-6B9E-4185-9016-275F3EE9E510}"/>
              </a:ext>
            </a:extLst>
          </p:cNvPr>
          <p:cNvSpPr txBox="1"/>
          <p:nvPr/>
        </p:nvSpPr>
        <p:spPr>
          <a:xfrm>
            <a:off x="952500" y="2524125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5159964-F662-44EC-A131-30A928F15FC9}"/>
              </a:ext>
            </a:extLst>
          </p:cNvPr>
          <p:cNvSpPr txBox="1"/>
          <p:nvPr/>
        </p:nvSpPr>
        <p:spPr>
          <a:xfrm>
            <a:off x="277691" y="2764215"/>
            <a:ext cx="32594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This</a:t>
            </a:r>
            <a:r>
              <a:rPr lang="it-IT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page </a:t>
            </a:r>
            <a:r>
              <a:rPr lang="it-IT" i="1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allows</a:t>
            </a:r>
            <a:r>
              <a:rPr lang="it-IT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it-IT" i="1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authenticated</a:t>
            </a:r>
            <a:r>
              <a:rPr lang="it-IT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users to </a:t>
            </a:r>
            <a:r>
              <a:rPr lang="it-IT" i="1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select</a:t>
            </a:r>
            <a:r>
              <a:rPr lang="it-IT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the room </a:t>
            </a:r>
            <a:r>
              <a:rPr lang="it-IT" i="1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type</a:t>
            </a:r>
            <a:r>
              <a:rPr lang="it-IT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and </a:t>
            </a:r>
            <a:r>
              <a:rPr lang="it-IT" i="1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dates</a:t>
            </a:r>
            <a:r>
              <a:rPr lang="it-IT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and </a:t>
            </a:r>
            <a:r>
              <a:rPr lang="it-IT" i="1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confirm</a:t>
            </a:r>
            <a:r>
              <a:rPr lang="it-IT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it-IT" i="1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their</a:t>
            </a:r>
            <a:r>
              <a:rPr lang="it-IT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it-IT" i="1" dirty="0" err="1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reservation</a:t>
            </a:r>
            <a:r>
              <a:rPr lang="it-IT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endParaRPr lang="en-GB" i="1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853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37000">
              <a:schemeClr val="accent1">
                <a:lumMod val="69000"/>
                <a:lumOff val="31000"/>
              </a:schemeClr>
            </a:gs>
            <a:gs pos="83000">
              <a:srgbClr val="00B050">
                <a:alpha val="56000"/>
              </a:srgbClr>
            </a:gs>
            <a:gs pos="100000">
              <a:srgbClr val="00B050">
                <a:alpha val="59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niParthenope Università degli studi di Napoli Parthenope - UnidTest">
            <a:extLst>
              <a:ext uri="{FF2B5EF4-FFF2-40B4-BE49-F238E27FC236}">
                <a16:creationId xmlns:a16="http://schemas.microsoft.com/office/drawing/2014/main" id="{4B4FFEE9-19AF-45E3-AA45-F89159076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0044" y="84935"/>
            <a:ext cx="828675" cy="82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magine 4" descr="Immagine che contiene testo, schermata, software, Sistema operativo&#10;&#10;Descrizione generata automaticamente">
            <a:extLst>
              <a:ext uri="{FF2B5EF4-FFF2-40B4-BE49-F238E27FC236}">
                <a16:creationId xmlns:a16="http://schemas.microsoft.com/office/drawing/2014/main" id="{0CBAD712-CD6E-451D-B668-54C4B0FB466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1" t="16805" r="4031" b="9167"/>
          <a:stretch/>
        </p:blipFill>
        <p:spPr>
          <a:xfrm>
            <a:off x="4064180" y="1646925"/>
            <a:ext cx="8046908" cy="388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45F38B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C02E7C81-0889-44F4-AE1A-D7D5158EC7A9}"/>
              </a:ext>
            </a:extLst>
          </p:cNvPr>
          <p:cNvSpPr/>
          <p:nvPr/>
        </p:nvSpPr>
        <p:spPr>
          <a:xfrm>
            <a:off x="3557131" y="170660"/>
            <a:ext cx="387612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5400" b="1" i="1" dirty="0">
                <a:ln>
                  <a:solidFill>
                    <a:srgbClr val="77A5CA"/>
                  </a:solidFill>
                </a:ln>
                <a:solidFill>
                  <a:srgbClr val="45F3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  USER AREA</a:t>
            </a:r>
            <a:endParaRPr lang="it-IT" sz="5400" i="1" dirty="0">
              <a:ln>
                <a:solidFill>
                  <a:srgbClr val="77A5CA"/>
                </a:solidFill>
              </a:ln>
              <a:solidFill>
                <a:srgbClr val="45F38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40FD1282-7C45-487D-A357-C4954320C671}"/>
              </a:ext>
            </a:extLst>
          </p:cNvPr>
          <p:cNvSpPr/>
          <p:nvPr/>
        </p:nvSpPr>
        <p:spPr>
          <a:xfrm>
            <a:off x="295276" y="2274838"/>
            <a:ext cx="345757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This section represents the user’s </a:t>
            </a:r>
            <a:r>
              <a:rPr lang="en-US" b="1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personal dashboard</a:t>
            </a:r>
            <a:r>
              <a:rPr lang="en-US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br>
              <a:rPr lang="en-US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It displays </a:t>
            </a:r>
            <a:r>
              <a:rPr lang="en-US" b="1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personal information</a:t>
            </a:r>
            <a:r>
              <a:rPr lang="en-US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the history of </a:t>
            </a:r>
            <a:r>
              <a:rPr lang="en-US" b="1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bookings</a:t>
            </a:r>
            <a:r>
              <a:rPr lang="en-US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and allows users, when permitted, to </a:t>
            </a:r>
            <a:r>
              <a:rPr lang="en-US" b="1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cancel a reservation</a:t>
            </a:r>
            <a:r>
              <a:rPr lang="en-US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giving full control over their activities.</a:t>
            </a:r>
            <a:endParaRPr lang="it-IT" i="1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9698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37000">
              <a:schemeClr val="accent1">
                <a:lumMod val="69000"/>
                <a:lumOff val="31000"/>
              </a:schemeClr>
            </a:gs>
            <a:gs pos="83000">
              <a:srgbClr val="00B050">
                <a:alpha val="56000"/>
              </a:srgbClr>
            </a:gs>
            <a:gs pos="100000">
              <a:srgbClr val="00B050">
                <a:alpha val="59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niParthenope Università degli studi di Napoli Parthenope - UnidTest">
            <a:extLst>
              <a:ext uri="{FF2B5EF4-FFF2-40B4-BE49-F238E27FC236}">
                <a16:creationId xmlns:a16="http://schemas.microsoft.com/office/drawing/2014/main" id="{4B4FFEE9-19AF-45E3-AA45-F89159076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0044" y="84935"/>
            <a:ext cx="828675" cy="82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359877D8-A52F-40BC-A1FB-E8BFA0C947B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9" t="17003" r="4099" b="8498"/>
          <a:stretch/>
        </p:blipFill>
        <p:spPr>
          <a:xfrm>
            <a:off x="4155007" y="1485000"/>
            <a:ext cx="7960793" cy="388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45F38B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B1616296-8A15-464B-B3F9-7D2394E1F3BB}"/>
              </a:ext>
            </a:extLst>
          </p:cNvPr>
          <p:cNvSpPr txBox="1"/>
          <p:nvPr/>
        </p:nvSpPr>
        <p:spPr>
          <a:xfrm flipH="1">
            <a:off x="3922394" y="37607"/>
            <a:ext cx="3440431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it-IT" sz="5400" b="1" i="1" dirty="0">
                <a:ln>
                  <a:solidFill>
                    <a:srgbClr val="77A5CA"/>
                  </a:solidFill>
                </a:ln>
                <a:solidFill>
                  <a:srgbClr val="45F3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CONTACT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87A29B9B-8D60-4552-995E-36530DBBD159}"/>
              </a:ext>
            </a:extLst>
          </p:cNvPr>
          <p:cNvSpPr/>
          <p:nvPr/>
        </p:nvSpPr>
        <p:spPr>
          <a:xfrm>
            <a:off x="266700" y="2690336"/>
            <a:ext cx="376046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This “Contact Us” page allows users to easily request information or support by clearly displaying the main contact details: email address and phone number.</a:t>
            </a:r>
          </a:p>
        </p:txBody>
      </p:sp>
    </p:spTree>
    <p:extLst>
      <p:ext uri="{BB962C8B-B14F-4D97-AF65-F5344CB8AC3E}">
        <p14:creationId xmlns:p14="http://schemas.microsoft.com/office/powerpoint/2010/main" val="1584251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37000">
              <a:schemeClr val="accent1">
                <a:lumMod val="69000"/>
                <a:lumOff val="31000"/>
              </a:schemeClr>
            </a:gs>
            <a:gs pos="83000">
              <a:srgbClr val="00B050">
                <a:alpha val="56000"/>
              </a:srgbClr>
            </a:gs>
            <a:gs pos="100000">
              <a:srgbClr val="00B050">
                <a:alpha val="59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niParthenope Università degli studi di Napoli Parthenope - UnidTest">
            <a:extLst>
              <a:ext uri="{FF2B5EF4-FFF2-40B4-BE49-F238E27FC236}">
                <a16:creationId xmlns:a16="http://schemas.microsoft.com/office/drawing/2014/main" id="{4B4FFEE9-19AF-45E3-AA45-F89159076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0044" y="84935"/>
            <a:ext cx="828675" cy="82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9162F4C2-0861-4EFC-BD7A-826306BF6E4C}"/>
              </a:ext>
            </a:extLst>
          </p:cNvPr>
          <p:cNvSpPr/>
          <p:nvPr/>
        </p:nvSpPr>
        <p:spPr>
          <a:xfrm>
            <a:off x="4448754" y="84935"/>
            <a:ext cx="298190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5400" b="1" i="1" dirty="0">
                <a:ln>
                  <a:solidFill>
                    <a:srgbClr val="77A5CA"/>
                  </a:solidFill>
                </a:ln>
                <a:solidFill>
                  <a:srgbClr val="45F38B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REVIEWS</a:t>
            </a:r>
            <a:endParaRPr lang="it-IT" sz="1600" b="1" i="1" dirty="0">
              <a:ln>
                <a:solidFill>
                  <a:srgbClr val="77A5CA"/>
                </a:solidFill>
              </a:ln>
              <a:solidFill>
                <a:srgbClr val="45F38B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F31BDEB5-5D49-46D8-B4D6-7BFEDA05C98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2" t="17639" r="4114" b="8751"/>
          <a:stretch/>
        </p:blipFill>
        <p:spPr>
          <a:xfrm>
            <a:off x="4090373" y="1485000"/>
            <a:ext cx="8025427" cy="388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45F38B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Rettangolo 4">
            <a:extLst>
              <a:ext uri="{FF2B5EF4-FFF2-40B4-BE49-F238E27FC236}">
                <a16:creationId xmlns:a16="http://schemas.microsoft.com/office/drawing/2014/main" id="{B54B32AC-4B79-4D84-92D6-EC658B43F02B}"/>
              </a:ext>
            </a:extLst>
          </p:cNvPr>
          <p:cNvSpPr/>
          <p:nvPr/>
        </p:nvSpPr>
        <p:spPr>
          <a:xfrm>
            <a:off x="161925" y="2274838"/>
            <a:ext cx="360045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This page allows users to </a:t>
            </a:r>
            <a:r>
              <a:rPr lang="en-US" b="1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submit a review</a:t>
            </a:r>
            <a:r>
              <a:rPr lang="en-US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about their experience in the dormitory.</a:t>
            </a:r>
            <a:br>
              <a:rPr lang="en-US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It features a form for writing feedback and a section displaying </a:t>
            </a:r>
            <a:r>
              <a:rPr lang="en-US" b="1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previous student reviews</a:t>
            </a:r>
            <a:r>
              <a:rPr lang="en-US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including name and date, helping to build transparency and trust.</a:t>
            </a:r>
          </a:p>
        </p:txBody>
      </p:sp>
    </p:spTree>
    <p:extLst>
      <p:ext uri="{BB962C8B-B14F-4D97-AF65-F5344CB8AC3E}">
        <p14:creationId xmlns:p14="http://schemas.microsoft.com/office/powerpoint/2010/main" val="1789619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37000">
              <a:schemeClr val="accent1">
                <a:lumMod val="69000"/>
                <a:lumOff val="31000"/>
              </a:schemeClr>
            </a:gs>
            <a:gs pos="83000">
              <a:srgbClr val="00B050">
                <a:alpha val="56000"/>
              </a:srgbClr>
            </a:gs>
            <a:gs pos="100000">
              <a:srgbClr val="00B050">
                <a:alpha val="59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niParthenope Università degli studi di Napoli Parthenope - UnidTest">
            <a:extLst>
              <a:ext uri="{FF2B5EF4-FFF2-40B4-BE49-F238E27FC236}">
                <a16:creationId xmlns:a16="http://schemas.microsoft.com/office/drawing/2014/main" id="{4B4FFEE9-19AF-45E3-AA45-F89159076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0044" y="84935"/>
            <a:ext cx="828675" cy="82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2452D94F-F5F4-4BE2-A871-36A824ABB58B}"/>
              </a:ext>
            </a:extLst>
          </p:cNvPr>
          <p:cNvSpPr/>
          <p:nvPr/>
        </p:nvSpPr>
        <p:spPr>
          <a:xfrm>
            <a:off x="3956279" y="84935"/>
            <a:ext cx="427944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5400" b="1" i="1" dirty="0">
                <a:ln>
                  <a:solidFill>
                    <a:srgbClr val="77A5CA"/>
                  </a:solidFill>
                </a:ln>
                <a:solidFill>
                  <a:srgbClr val="45F3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PROMOTIONS</a:t>
            </a:r>
            <a:endParaRPr lang="it-IT" sz="5400" i="1" dirty="0">
              <a:ln>
                <a:solidFill>
                  <a:srgbClr val="77A5CA"/>
                </a:solidFill>
              </a:ln>
              <a:solidFill>
                <a:srgbClr val="45F38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4" name="Immagine 3" descr="Immagine che contiene testo, schermata, computer, software&#10;&#10;Descrizione generata automaticamente">
            <a:extLst>
              <a:ext uri="{FF2B5EF4-FFF2-40B4-BE49-F238E27FC236}">
                <a16:creationId xmlns:a16="http://schemas.microsoft.com/office/drawing/2014/main" id="{C41AF035-78B2-4418-AB18-8FE972CCE61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9" t="17917" r="3947" b="8611"/>
          <a:stretch/>
        </p:blipFill>
        <p:spPr>
          <a:xfrm>
            <a:off x="4074808" y="1552575"/>
            <a:ext cx="8040586" cy="388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45F38B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Rettangolo 4">
            <a:extLst>
              <a:ext uri="{FF2B5EF4-FFF2-40B4-BE49-F238E27FC236}">
                <a16:creationId xmlns:a16="http://schemas.microsoft.com/office/drawing/2014/main" id="{23EFF6B2-BD92-4C7F-A1AE-AE8FF4CC28D2}"/>
              </a:ext>
            </a:extLst>
          </p:cNvPr>
          <p:cNvSpPr/>
          <p:nvPr/>
        </p:nvSpPr>
        <p:spPr>
          <a:xfrm>
            <a:off x="76607" y="2480912"/>
            <a:ext cx="387967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This page presents the current promotions offered by the dormitory.</a:t>
            </a:r>
            <a:br>
              <a:rPr lang="en-US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i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It clearly highlights available deals, such as student discounts, including offer details and status, allowing users to quickly identify available savings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5418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37000">
              <a:schemeClr val="accent1">
                <a:lumMod val="69000"/>
                <a:lumOff val="31000"/>
              </a:schemeClr>
            </a:gs>
            <a:gs pos="83000">
              <a:srgbClr val="00B050">
                <a:alpha val="56000"/>
              </a:srgbClr>
            </a:gs>
            <a:gs pos="100000">
              <a:srgbClr val="00B050">
                <a:alpha val="59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niParthenope Università degli studi di Napoli Parthenope - UnidTest">
            <a:extLst>
              <a:ext uri="{FF2B5EF4-FFF2-40B4-BE49-F238E27FC236}">
                <a16:creationId xmlns:a16="http://schemas.microsoft.com/office/drawing/2014/main" id="{4B4FFEE9-19AF-45E3-AA45-F89159076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0044" y="84935"/>
            <a:ext cx="828675" cy="82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D5EEAB08-EA8F-4652-A43C-FC0D8347F3F7}"/>
              </a:ext>
            </a:extLst>
          </p:cNvPr>
          <p:cNvSpPr txBox="1"/>
          <p:nvPr/>
        </p:nvSpPr>
        <p:spPr>
          <a:xfrm>
            <a:off x="4657725" y="309844"/>
            <a:ext cx="2066925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it-IT" sz="5400" b="1" i="1" dirty="0">
                <a:ln>
                  <a:solidFill>
                    <a:srgbClr val="77A5CA"/>
                  </a:solidFill>
                </a:ln>
                <a:solidFill>
                  <a:srgbClr val="45F3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TEAM</a:t>
            </a:r>
            <a:endParaRPr lang="it-IT" b="1" i="1" dirty="0">
              <a:ln>
                <a:solidFill>
                  <a:srgbClr val="77A5CA"/>
                </a:solidFill>
              </a:ln>
              <a:solidFill>
                <a:srgbClr val="45F38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CD220C00-E955-4772-8DC6-FB0EF90005D1}"/>
              </a:ext>
            </a:extLst>
          </p:cNvPr>
          <p:cNvSpPr/>
          <p:nvPr/>
        </p:nvSpPr>
        <p:spPr>
          <a:xfrm>
            <a:off x="1014411" y="2362200"/>
            <a:ext cx="3400425" cy="3981450"/>
          </a:xfrm>
          <a:prstGeom prst="rect">
            <a:avLst/>
          </a:prstGeom>
          <a:solidFill>
            <a:srgbClr val="45F38B"/>
          </a:solidFill>
          <a:ln w="76200">
            <a:solidFill>
              <a:srgbClr val="77A5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545B1E95-EC01-4B3D-BF91-06AF9AB65A14}"/>
              </a:ext>
            </a:extLst>
          </p:cNvPr>
          <p:cNvSpPr/>
          <p:nvPr/>
        </p:nvSpPr>
        <p:spPr>
          <a:xfrm>
            <a:off x="7243762" y="2362200"/>
            <a:ext cx="3400425" cy="3981450"/>
          </a:xfrm>
          <a:prstGeom prst="rect">
            <a:avLst/>
          </a:prstGeom>
          <a:solidFill>
            <a:srgbClr val="77A5CA"/>
          </a:solidFill>
          <a:ln w="76200">
            <a:solidFill>
              <a:srgbClr val="45F3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CC27B58-5473-4C86-8975-FFCCA8895BCA}"/>
              </a:ext>
            </a:extLst>
          </p:cNvPr>
          <p:cNvSpPr txBox="1"/>
          <p:nvPr/>
        </p:nvSpPr>
        <p:spPr>
          <a:xfrm>
            <a:off x="1378741" y="3961715"/>
            <a:ext cx="2671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RICCARDO INTRONO</a:t>
            </a:r>
          </a:p>
          <a:p>
            <a:pPr algn="ctr"/>
            <a:r>
              <a:rPr lang="it-IT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0124003124 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A4F1140-E0F6-4D1C-9785-87633B826BC4}"/>
              </a:ext>
            </a:extLst>
          </p:cNvPr>
          <p:cNvSpPr txBox="1"/>
          <p:nvPr/>
        </p:nvSpPr>
        <p:spPr>
          <a:xfrm>
            <a:off x="7662860" y="3837205"/>
            <a:ext cx="25812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ROBERTA DE LUCA</a:t>
            </a:r>
          </a:p>
          <a:p>
            <a:pPr algn="ctr"/>
            <a:r>
              <a:rPr lang="it-IT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0124003165</a:t>
            </a:r>
          </a:p>
        </p:txBody>
      </p:sp>
      <p:cxnSp>
        <p:nvCxnSpPr>
          <p:cNvPr id="10" name="Connettore curvo 9">
            <a:extLst>
              <a:ext uri="{FF2B5EF4-FFF2-40B4-BE49-F238E27FC236}">
                <a16:creationId xmlns:a16="http://schemas.microsoft.com/office/drawing/2014/main" id="{8C62FD7A-40A9-4189-908C-4E06144BD73F}"/>
              </a:ext>
            </a:extLst>
          </p:cNvPr>
          <p:cNvCxnSpPr>
            <a:cxnSpLocks/>
          </p:cNvCxnSpPr>
          <p:nvPr/>
        </p:nvCxnSpPr>
        <p:spPr>
          <a:xfrm>
            <a:off x="4414835" y="3712696"/>
            <a:ext cx="2743202" cy="895350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prstDash val="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Rettangolo 12">
            <a:extLst>
              <a:ext uri="{FF2B5EF4-FFF2-40B4-BE49-F238E27FC236}">
                <a16:creationId xmlns:a16="http://schemas.microsoft.com/office/drawing/2014/main" id="{92CB5809-0AE3-4CF3-AB4D-93E6350F3D45}"/>
              </a:ext>
            </a:extLst>
          </p:cNvPr>
          <p:cNvSpPr/>
          <p:nvPr/>
        </p:nvSpPr>
        <p:spPr>
          <a:xfrm>
            <a:off x="2857498" y="1333009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it-IT" sz="20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Università degli Studi di Napoli “Parthenope"</a:t>
            </a:r>
          </a:p>
          <a:p>
            <a:pPr algn="ctr"/>
            <a:r>
              <a:rPr lang="it-IT" sz="20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 Dipartimento di Scienze e Tecnologie</a:t>
            </a:r>
          </a:p>
          <a:p>
            <a:pPr algn="ctr"/>
            <a:r>
              <a:rPr lang="it-IT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A.A. 2025-2026 </a:t>
            </a:r>
          </a:p>
        </p:txBody>
      </p:sp>
    </p:spTree>
    <p:extLst>
      <p:ext uri="{BB962C8B-B14F-4D97-AF65-F5344CB8AC3E}">
        <p14:creationId xmlns:p14="http://schemas.microsoft.com/office/powerpoint/2010/main" val="3082214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000"/>
                            </p:stCondLst>
                            <p:childTnLst>
                              <p:par>
                                <p:cTn id="86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/>
    </p:bld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908</Words>
  <Application>Microsoft Macintosh PowerPoint</Application>
  <PresentationFormat>Widescreen</PresentationFormat>
  <Paragraphs>68</Paragraphs>
  <Slides>18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Roboto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ROBERTA DE LUCA</dc:creator>
  <cp:lastModifiedBy>Riccardo Introno</cp:lastModifiedBy>
  <cp:revision>37</cp:revision>
  <dcterms:created xsi:type="dcterms:W3CDTF">2025-12-28T15:43:52Z</dcterms:created>
  <dcterms:modified xsi:type="dcterms:W3CDTF">2025-12-30T18:45:58Z</dcterms:modified>
</cp:coreProperties>
</file>